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Open Sans Bold" panose="020B0604020202020204" charset="0"/>
      <p:regular r:id="rId11"/>
    </p:embeddedFont>
    <p:embeddedFont>
      <p:font typeface="Open Sans" panose="020B0604020202020204" charset="0"/>
      <p:regular r:id="rId12"/>
    </p:embeddedFont>
    <p:embeddedFont>
      <p:font typeface="Open Sans Bold Italics" panose="020B0604020202020204" charset="0"/>
      <p:regular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Open Sans Italics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0" d="100"/>
          <a:sy n="50" d="100"/>
        </p:scale>
        <p:origin x="696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CDFFD8">
                <a:alpha val="100000"/>
              </a:srgbClr>
            </a:gs>
            <a:gs pos="100000">
              <a:srgbClr val="94B9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667943" y="8454024"/>
            <a:ext cx="4548360" cy="2126358"/>
          </a:xfrm>
          <a:custGeom>
            <a:avLst/>
            <a:gdLst/>
            <a:ahLst/>
            <a:cxnLst/>
            <a:rect l="l" t="t" r="r" b="b"/>
            <a:pathLst>
              <a:path w="4548360" h="2126358">
                <a:moveTo>
                  <a:pt x="0" y="0"/>
                </a:moveTo>
                <a:lnTo>
                  <a:pt x="4548360" y="0"/>
                </a:lnTo>
                <a:lnTo>
                  <a:pt x="4548360" y="2126358"/>
                </a:lnTo>
                <a:lnTo>
                  <a:pt x="0" y="21263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184504" y="2035391"/>
            <a:ext cx="15918992" cy="2727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38"/>
              </a:lnSpc>
            </a:pPr>
            <a:r>
              <a:rPr lang="en-US" sz="894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Homework 2:</a:t>
            </a:r>
          </a:p>
          <a:p>
            <a:pPr marL="0" lvl="0" indent="0" algn="ctr">
              <a:lnSpc>
                <a:spcPts val="10738"/>
              </a:lnSpc>
              <a:spcBef>
                <a:spcPct val="0"/>
              </a:spcBef>
            </a:pPr>
            <a:r>
              <a:rPr lang="en-US" sz="894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CIFAR 10 e Classificatori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0" y="8062795"/>
            <a:ext cx="11834382" cy="2224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4"/>
              </a:lnSpc>
            </a:pPr>
            <a:r>
              <a:rPr lang="en-US" sz="239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Studente: Patanè Fabrizio </a:t>
            </a:r>
          </a:p>
          <a:p>
            <a:pPr algn="l">
              <a:lnSpc>
                <a:spcPts val="3594"/>
              </a:lnSpc>
            </a:pPr>
            <a:r>
              <a:rPr lang="en-US" sz="239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Matricola: 1000062780</a:t>
            </a:r>
          </a:p>
          <a:p>
            <a:pPr algn="l">
              <a:lnSpc>
                <a:spcPts val="3594"/>
              </a:lnSpc>
            </a:pPr>
            <a:r>
              <a:rPr lang="en-US" sz="239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L8 Ingegneria informatica</a:t>
            </a:r>
          </a:p>
          <a:p>
            <a:pPr algn="l">
              <a:lnSpc>
                <a:spcPts val="3594"/>
              </a:lnSpc>
            </a:pPr>
            <a:r>
              <a:rPr lang="en-US" sz="239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Materia: Machine Learning</a:t>
            </a:r>
          </a:p>
          <a:p>
            <a:pPr marL="0" lvl="0" indent="0" algn="l">
              <a:lnSpc>
                <a:spcPts val="3594"/>
              </a:lnSpc>
              <a:spcBef>
                <a:spcPct val="0"/>
              </a:spcBef>
            </a:pPr>
            <a:r>
              <a:rPr lang="en-US" sz="239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Docenti: Spampinato Concetto, Palazzo Simone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CDFFD8">
                <a:alpha val="100000"/>
              </a:srgbClr>
            </a:gs>
            <a:gs pos="100000">
              <a:srgbClr val="94B9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712371" y="1711606"/>
            <a:ext cx="10863257" cy="1219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600"/>
              </a:lnSpc>
              <a:spcBef>
                <a:spcPct val="0"/>
              </a:spcBef>
            </a:pPr>
            <a:r>
              <a:rPr lang="en-US" sz="80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 cosa parleremo: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32307" y="6009126"/>
            <a:ext cx="3712371" cy="95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44"/>
              </a:lnSpc>
            </a:pPr>
            <a:r>
              <a:rPr lang="en-US" sz="3404" b="1" spc="-6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Descrizione del Dataset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611920" y="6011583"/>
            <a:ext cx="3814755" cy="1893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35"/>
              </a:lnSpc>
              <a:spcBef>
                <a:spcPct val="0"/>
              </a:spcBef>
            </a:pPr>
            <a:r>
              <a:rPr lang="en-US" sz="3395" b="1" spc="-6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Descrizione della metodologia adottata</a:t>
            </a:r>
          </a:p>
          <a:p>
            <a:pPr marL="0" lvl="0" indent="0" algn="ctr">
              <a:lnSpc>
                <a:spcPts val="3735"/>
              </a:lnSpc>
              <a:spcBef>
                <a:spcPct val="0"/>
              </a:spcBef>
            </a:pPr>
            <a:endParaRPr lang="en-US" sz="3395" b="1" spc="-67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4350600" y="6009126"/>
            <a:ext cx="3705093" cy="1424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37"/>
              </a:lnSpc>
              <a:spcBef>
                <a:spcPct val="0"/>
              </a:spcBef>
            </a:pPr>
            <a:r>
              <a:rPr lang="en-US" sz="3397" b="1" spc="-6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Descrizione dei risultati</a:t>
            </a:r>
          </a:p>
          <a:p>
            <a:pPr marL="0" lvl="0" indent="0" algn="ctr">
              <a:lnSpc>
                <a:spcPts val="3737"/>
              </a:lnSpc>
              <a:spcBef>
                <a:spcPct val="0"/>
              </a:spcBef>
            </a:pPr>
            <a:endParaRPr lang="en-US" sz="3397" b="1" spc="-67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1261007" y="4218627"/>
            <a:ext cx="1239263" cy="1239263"/>
            <a:chOff x="0" y="0"/>
            <a:chExt cx="6350000" cy="6350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B5E1E9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1261007" y="4126614"/>
            <a:ext cx="1239263" cy="119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10047"/>
              </a:lnSpc>
              <a:spcBef>
                <a:spcPct val="0"/>
              </a:spcBef>
            </a:pPr>
            <a:r>
              <a:rPr lang="en-US" sz="6399" b="1" u="none" spc="-15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6156349" y="4218627"/>
            <a:ext cx="1239263" cy="1239263"/>
            <a:chOff x="0" y="0"/>
            <a:chExt cx="6350000" cy="6350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B5E1E9"/>
            </a:solidFill>
          </p:spPr>
        </p:sp>
      </p:grpSp>
      <p:sp>
        <p:nvSpPr>
          <p:cNvPr id="11" name="TextBox 11"/>
          <p:cNvSpPr txBox="1"/>
          <p:nvPr/>
        </p:nvSpPr>
        <p:spPr>
          <a:xfrm>
            <a:off x="6156349" y="4126614"/>
            <a:ext cx="1239263" cy="119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10047"/>
              </a:lnSpc>
              <a:spcBef>
                <a:spcPct val="0"/>
              </a:spcBef>
            </a:pPr>
            <a:r>
              <a:rPr lang="en-US" sz="6399" b="1" u="none" spc="-15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0899666" y="4218627"/>
            <a:ext cx="1239263" cy="1239263"/>
            <a:chOff x="0" y="0"/>
            <a:chExt cx="6350000" cy="6350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B5E1E9"/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10899666" y="4126614"/>
            <a:ext cx="1239263" cy="119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10047"/>
              </a:lnSpc>
              <a:spcBef>
                <a:spcPct val="0"/>
              </a:spcBef>
            </a:pPr>
            <a:r>
              <a:rPr lang="en-US" sz="6399" b="1" u="none" spc="-15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5583515" y="4218627"/>
            <a:ext cx="1239263" cy="1239263"/>
            <a:chOff x="0" y="0"/>
            <a:chExt cx="6350000" cy="63500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B5E1E9"/>
            </a:solidFill>
          </p:spPr>
        </p:sp>
      </p:grpSp>
      <p:sp>
        <p:nvSpPr>
          <p:cNvPr id="17" name="TextBox 17"/>
          <p:cNvSpPr txBox="1"/>
          <p:nvPr/>
        </p:nvSpPr>
        <p:spPr>
          <a:xfrm>
            <a:off x="15583515" y="4126614"/>
            <a:ext cx="1239263" cy="119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10047"/>
              </a:lnSpc>
              <a:spcBef>
                <a:spcPct val="0"/>
              </a:spcBef>
            </a:pPr>
            <a:r>
              <a:rPr lang="en-US" sz="6399" b="1" spc="-15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868603" y="6011583"/>
            <a:ext cx="3814755" cy="9541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35"/>
              </a:lnSpc>
              <a:spcBef>
                <a:spcPct val="0"/>
              </a:spcBef>
            </a:pPr>
            <a:r>
              <a:rPr lang="en-US" sz="3395" b="1" spc="-6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Obiettivo dell’homework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CDFFD8">
                <a:alpha val="100000"/>
              </a:srgbClr>
            </a:gs>
            <a:gs pos="100000">
              <a:srgbClr val="94B9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1643" y="1532471"/>
            <a:ext cx="9609941" cy="7419074"/>
          </a:xfrm>
          <a:custGeom>
            <a:avLst/>
            <a:gdLst/>
            <a:ahLst/>
            <a:cxnLst/>
            <a:rect l="l" t="t" r="r" b="b"/>
            <a:pathLst>
              <a:path w="9609941" h="7419074">
                <a:moveTo>
                  <a:pt x="0" y="0"/>
                </a:moveTo>
                <a:lnTo>
                  <a:pt x="9609941" y="0"/>
                </a:lnTo>
                <a:lnTo>
                  <a:pt x="9609941" y="7419074"/>
                </a:lnTo>
                <a:lnTo>
                  <a:pt x="0" y="74190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386438" y="5165808"/>
            <a:ext cx="7706877" cy="4684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Una raccolta di </a:t>
            </a:r>
            <a:r>
              <a:rPr lang="en-US" sz="27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60.000 </a:t>
            </a:r>
            <a:r>
              <a:rPr lang="en-US" sz="2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immagini fra cui </a:t>
            </a:r>
            <a:r>
              <a:rPr lang="en-US" sz="27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50.000 </a:t>
            </a:r>
            <a:r>
              <a:rPr lang="en-US" sz="2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 addestramento e </a:t>
            </a:r>
            <a:r>
              <a:rPr lang="en-US" sz="27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10.000 </a:t>
            </a:r>
            <a:r>
              <a:rPr lang="en-US" sz="2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 test.</a:t>
            </a:r>
          </a:p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Ci sono</a:t>
            </a:r>
            <a:r>
              <a:rPr lang="en-US" sz="27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10 classi</a:t>
            </a:r>
            <a:r>
              <a:rPr lang="en-US" sz="2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sulle quali lavorarci con modelli di Machine Learning ordinari o avanzati.</a:t>
            </a:r>
          </a:p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Dimensioni dell’immagini </a:t>
            </a:r>
            <a:r>
              <a:rPr lang="en-US" sz="27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32x32 Px</a:t>
            </a:r>
            <a:r>
              <a:rPr lang="en-US" sz="2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di tipo </a:t>
            </a:r>
            <a:r>
              <a:rPr lang="en-US" sz="27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RGB</a:t>
            </a:r>
            <a:r>
              <a:rPr lang="en-US" sz="2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Dataset offerto gratuitamente e disponibile al pubblico.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662601" y="2035391"/>
            <a:ext cx="5532090" cy="2438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  <a:spcBef>
                <a:spcPct val="0"/>
              </a:spcBef>
            </a:pPr>
            <a:r>
              <a:rPr lang="en-US" sz="80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Il Dataset CIFAR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CDFFD8">
                <a:alpha val="100000"/>
              </a:srgbClr>
            </a:gs>
            <a:gs pos="100000">
              <a:srgbClr val="94B9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90101" y="2035391"/>
            <a:ext cx="5532090" cy="1219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  <a:spcBef>
                <a:spcPct val="0"/>
              </a:spcBef>
            </a:pPr>
            <a:r>
              <a:rPr lang="en-US" sz="80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Obiettivo: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090101" y="3831608"/>
            <a:ext cx="5532090" cy="2544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87"/>
              </a:lnSpc>
              <a:spcBef>
                <a:spcPct val="0"/>
              </a:spcBef>
            </a:pPr>
            <a:r>
              <a:rPr lang="en-US" sz="272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Affrontare il problema di classificazione cercando di ottenere risultati migliori in termini di prestazioni attraverso dei modelli.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010687" y="2035391"/>
            <a:ext cx="5532090" cy="1219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  <a:spcBef>
                <a:spcPct val="0"/>
              </a:spcBef>
            </a:pPr>
            <a:r>
              <a:rPr lang="en-US" sz="80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La sfida: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010687" y="4345958"/>
            <a:ext cx="5532090" cy="1515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87"/>
              </a:lnSpc>
              <a:spcBef>
                <a:spcPct val="0"/>
              </a:spcBef>
            </a:pPr>
            <a:r>
              <a:rPr lang="en-US" sz="272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Provare a trovare il giusto compromesso fra i tempi computazionali e le prestazioni.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CDFFD8">
                <a:alpha val="100000"/>
              </a:srgbClr>
            </a:gs>
            <a:gs pos="100000">
              <a:srgbClr val="94B9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99361" y="1546440"/>
            <a:ext cx="14084886" cy="1219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  <a:spcBef>
                <a:spcPct val="0"/>
              </a:spcBef>
            </a:pPr>
            <a:r>
              <a:rPr lang="en-US" sz="80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Metodologia utilizzata: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099361" y="4056165"/>
            <a:ext cx="14089277" cy="5208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 modelli sulle quali dovevamo usufruire erano: </a:t>
            </a:r>
            <a:r>
              <a:rPr lang="en-US" sz="27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Regressione logistica</a:t>
            </a:r>
            <a:r>
              <a:rPr lang="en-US" sz="2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; </a:t>
            </a:r>
            <a:r>
              <a:rPr lang="en-US" sz="27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Albero decisionale</a:t>
            </a:r>
            <a:r>
              <a:rPr lang="en-US" sz="2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; </a:t>
            </a:r>
            <a:r>
              <a:rPr lang="en-US" sz="27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K-NN</a:t>
            </a:r>
            <a:r>
              <a:rPr lang="en-US" sz="2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ed infine </a:t>
            </a:r>
            <a:r>
              <a:rPr lang="en-US" sz="27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SVM</a:t>
            </a:r>
            <a:r>
              <a:rPr lang="en-US" sz="2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Il dataset è stato ridotto al </a:t>
            </a:r>
            <a:r>
              <a:rPr lang="en-US" sz="2799" b="1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10%</a:t>
            </a:r>
            <a:r>
              <a:rPr lang="en-US" sz="279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del totale (12000 istanze). Questo sottoinsieme è stato poi suddiviso in </a:t>
            </a:r>
            <a:r>
              <a:rPr lang="en-US" sz="2799" b="1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90%</a:t>
            </a:r>
            <a:r>
              <a:rPr lang="en-US" sz="279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per </a:t>
            </a:r>
            <a:r>
              <a:rPr lang="en-US" sz="2799" b="1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training + validation</a:t>
            </a:r>
            <a:r>
              <a:rPr lang="en-US" sz="279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e </a:t>
            </a:r>
            <a:r>
              <a:rPr lang="en-US" sz="2799" b="1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10%</a:t>
            </a:r>
            <a:r>
              <a:rPr lang="en-US" sz="279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per </a:t>
            </a:r>
            <a:r>
              <a:rPr lang="en-US" sz="2799" b="1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test</a:t>
            </a:r>
            <a:r>
              <a:rPr lang="en-US" sz="279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 Successivamente, il </a:t>
            </a:r>
            <a:r>
              <a:rPr lang="en-US" sz="2799" b="1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90%</a:t>
            </a:r>
            <a:r>
              <a:rPr lang="en-US" sz="279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dell’insieme </a:t>
            </a:r>
            <a:r>
              <a:rPr lang="en-US" sz="2799" b="1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training + validation</a:t>
            </a:r>
            <a:r>
              <a:rPr lang="en-US" sz="279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è usato per il training, e il restante </a:t>
            </a:r>
            <a:r>
              <a:rPr lang="en-US" sz="2799" b="1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10%</a:t>
            </a:r>
            <a:r>
              <a:rPr lang="en-US" sz="279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per la </a:t>
            </a:r>
            <a:r>
              <a:rPr lang="en-US" sz="2799" b="1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validation</a:t>
            </a:r>
            <a:r>
              <a:rPr lang="en-US" sz="279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Ho creato una cella di codice con delle impostazioni che permettono di modificare liberamente certi parametri a propria discrezione.</a:t>
            </a:r>
          </a:p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L’utilizzo della </a:t>
            </a:r>
            <a:r>
              <a:rPr lang="en-US" sz="2799" b="1" u="non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PCA </a:t>
            </a:r>
            <a:r>
              <a:rPr lang="en-US" sz="2799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dopo la standardizzazione necessario per rimuovere features troppo correlate fra loro.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CDFFD8">
                <a:alpha val="100000"/>
              </a:srgbClr>
            </a:gs>
            <a:gs pos="100000">
              <a:srgbClr val="94B9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99361" y="1546440"/>
            <a:ext cx="14084886" cy="1219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  <a:spcBef>
                <a:spcPct val="0"/>
              </a:spcBef>
            </a:pPr>
            <a:r>
              <a:rPr lang="en-US" sz="80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Valutazione del modello: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099361" y="4056165"/>
            <a:ext cx="14089277" cy="4160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 valutazione del modello avviene con un ciclo for svolgendo tutti 4 i modelli. Il processo è dispendioso a livello di tempistiche, ma si troveranno complessivamente delle percentuali di accuratezza decenti per essere dei modelli ordinari con un dataset ridotto e svolto dopo standardizzaione e PCA. </a:t>
            </a:r>
          </a:p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Dopo che verranno singolarmente analizzati, si proverà il modello con l’accuratezza migliore nel validation set provandolo singolarmente con il test set come prova finale.</a:t>
            </a:r>
          </a:p>
          <a:p>
            <a:pPr marL="0" lvl="0" indent="0" algn="l">
              <a:lnSpc>
                <a:spcPts val="4199"/>
              </a:lnSpc>
              <a:spcBef>
                <a:spcPct val="0"/>
              </a:spcBef>
            </a:pPr>
            <a:endParaRPr lang="en-US" sz="2799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CDFFD8">
                <a:alpha val="100000"/>
              </a:srgbClr>
            </a:gs>
            <a:gs pos="100000">
              <a:srgbClr val="94B9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2238" y="205740"/>
            <a:ext cx="8947640" cy="987552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028700" y="5136630"/>
            <a:ext cx="8288093" cy="2947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2134" lvl="1" indent="-286067" algn="l">
              <a:lnSpc>
                <a:spcPts val="3974"/>
              </a:lnSpc>
              <a:buFont typeface="Arial"/>
              <a:buChar char="•"/>
            </a:pPr>
            <a:r>
              <a:rPr lang="en-US" sz="264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Logistic regression: </a:t>
            </a:r>
            <a:r>
              <a:rPr lang="en-US" sz="264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38.70%</a:t>
            </a:r>
          </a:p>
          <a:p>
            <a:pPr marL="572134" lvl="1" indent="-286067" algn="l">
              <a:lnSpc>
                <a:spcPts val="3974"/>
              </a:lnSpc>
              <a:buFont typeface="Arial"/>
              <a:buChar char="•"/>
            </a:pPr>
            <a:r>
              <a:rPr lang="en-US" sz="264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Decision Tree: </a:t>
            </a:r>
            <a:r>
              <a:rPr lang="en-US" sz="264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24.17%</a:t>
            </a:r>
          </a:p>
          <a:p>
            <a:pPr marL="572134" lvl="1" indent="-286067" algn="l">
              <a:lnSpc>
                <a:spcPts val="3974"/>
              </a:lnSpc>
              <a:buFont typeface="Arial"/>
              <a:buChar char="•"/>
            </a:pPr>
            <a:r>
              <a:rPr lang="en-US" sz="264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k-NN: </a:t>
            </a:r>
            <a:r>
              <a:rPr lang="en-US" sz="264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28.80%</a:t>
            </a:r>
          </a:p>
          <a:p>
            <a:pPr marL="572134" lvl="1" indent="-286067" algn="l">
              <a:lnSpc>
                <a:spcPts val="3974"/>
              </a:lnSpc>
              <a:buFont typeface="Arial"/>
              <a:buChar char="•"/>
            </a:pPr>
            <a:r>
              <a:rPr lang="en-US" sz="264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SVM: </a:t>
            </a:r>
            <a:r>
              <a:rPr lang="en-US" sz="264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48.06%</a:t>
            </a:r>
          </a:p>
          <a:p>
            <a:pPr algn="l">
              <a:lnSpc>
                <a:spcPts val="3974"/>
              </a:lnSpc>
            </a:pPr>
            <a:endParaRPr lang="en-US" sz="2649" b="1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l">
              <a:lnSpc>
                <a:spcPts val="3974"/>
              </a:lnSpc>
            </a:pPr>
            <a:r>
              <a:rPr lang="en-US" sz="264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Tempistiche: In meno di 10 minuti su Google Colab.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07761" y="2005532"/>
            <a:ext cx="9988444" cy="1885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440"/>
              </a:lnSpc>
              <a:spcBef>
                <a:spcPct val="0"/>
              </a:spcBef>
            </a:pPr>
            <a:r>
              <a:rPr lang="en-US" sz="62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Analisi dell’accuratezza fra loro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CDFFD8">
                <a:alpha val="100000"/>
              </a:srgbClr>
            </a:gs>
            <a:gs pos="100000">
              <a:srgbClr val="94B9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30550" y="0"/>
            <a:ext cx="6581989" cy="4664291"/>
          </a:xfrm>
          <a:custGeom>
            <a:avLst/>
            <a:gdLst/>
            <a:ahLst/>
            <a:cxnLst/>
            <a:rect l="l" t="t" r="r" b="b"/>
            <a:pathLst>
              <a:path w="6581989" h="4664291">
                <a:moveTo>
                  <a:pt x="0" y="0"/>
                </a:moveTo>
                <a:lnTo>
                  <a:pt x="6581990" y="0"/>
                </a:lnTo>
                <a:lnTo>
                  <a:pt x="6581990" y="4664291"/>
                </a:lnTo>
                <a:lnTo>
                  <a:pt x="0" y="46642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02" b="-4387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30550" y="4440946"/>
            <a:ext cx="6581989" cy="5855579"/>
          </a:xfrm>
          <a:custGeom>
            <a:avLst/>
            <a:gdLst/>
            <a:ahLst/>
            <a:cxnLst/>
            <a:rect l="l" t="t" r="r" b="b"/>
            <a:pathLst>
              <a:path w="6581989" h="5855579">
                <a:moveTo>
                  <a:pt x="0" y="0"/>
                </a:moveTo>
                <a:lnTo>
                  <a:pt x="6581990" y="0"/>
                </a:lnTo>
                <a:lnTo>
                  <a:pt x="6581990" y="5855579"/>
                </a:lnTo>
                <a:lnTo>
                  <a:pt x="0" y="58555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9942429" y="5165808"/>
            <a:ext cx="7758076" cy="3112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Gli </a:t>
            </a:r>
            <a:r>
              <a:rPr lang="en-US" sz="27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SVM</a:t>
            </a:r>
            <a:r>
              <a:rPr lang="en-US" sz="2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si dimostrano il modello più accurato. </a:t>
            </a:r>
          </a:p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48.06%</a:t>
            </a:r>
            <a:r>
              <a:rPr lang="en-US" sz="2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validation set.</a:t>
            </a:r>
          </a:p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44.59%</a:t>
            </a:r>
            <a:r>
              <a:rPr lang="en-US" sz="2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test set.</a:t>
            </a:r>
          </a:p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 sovraimpressione i risultati sono evidenti attraverso una </a:t>
            </a:r>
            <a:r>
              <a:rPr lang="en-US" sz="27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Confusion Matrix.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662601" y="2035391"/>
            <a:ext cx="5532090" cy="2438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  <a:spcBef>
                <a:spcPct val="0"/>
              </a:spcBef>
            </a:pPr>
            <a:r>
              <a:rPr lang="en-US" sz="80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Risultato finale: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CDFFD8">
                <a:alpha val="100000"/>
              </a:srgbClr>
            </a:gs>
            <a:gs pos="100000">
              <a:srgbClr val="94B9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2300951"/>
            <a:ext cx="6885826" cy="213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430"/>
              </a:lnSpc>
              <a:spcBef>
                <a:spcPct val="0"/>
              </a:spcBef>
            </a:pPr>
            <a:r>
              <a:rPr lang="en-US" sz="7025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Ultime considerazioni: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84678" y="19748"/>
            <a:ext cx="9004219" cy="10502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00"/>
              </a:lnSpc>
            </a:pPr>
            <a:r>
              <a:rPr lang="en-US" sz="375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Per </a:t>
            </a:r>
            <a:r>
              <a:rPr lang="en-US" sz="375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migliorare</a:t>
            </a:r>
            <a:r>
              <a:rPr lang="en-US" sz="375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75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l’accuratezza</a:t>
            </a:r>
            <a:r>
              <a:rPr lang="en-US" sz="375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75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</a:t>
            </a:r>
            <a:r>
              <a:rPr lang="en-US" sz="375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75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può</a:t>
            </a:r>
            <a:r>
              <a:rPr lang="en-US" sz="375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</a:p>
          <a:p>
            <a:pPr marL="809625" lvl="1" indent="-404812" algn="l">
              <a:lnSpc>
                <a:spcPts val="5250"/>
              </a:lnSpc>
              <a:buFont typeface="Arial"/>
              <a:buChar char="•"/>
            </a:pPr>
            <a:r>
              <a:rPr lang="en-US" sz="375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Aumentare</a:t>
            </a:r>
            <a:r>
              <a:rPr lang="en-US" sz="375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75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il</a:t>
            </a:r>
            <a:r>
              <a:rPr lang="en-US" sz="375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sub-</a:t>
            </a:r>
            <a:r>
              <a:rPr lang="en-US" sz="375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campionamento</a:t>
            </a:r>
            <a:r>
              <a:rPr lang="en-US" sz="375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a </a:t>
            </a:r>
            <a:r>
              <a:rPr lang="en-US" sz="375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più</a:t>
            </a:r>
            <a:r>
              <a:rPr lang="en-US" sz="375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75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istanze</a:t>
            </a:r>
            <a:r>
              <a:rPr lang="en-US" sz="375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marL="809625" lvl="1" indent="-404812" algn="l">
              <a:lnSpc>
                <a:spcPts val="5250"/>
              </a:lnSpc>
              <a:buFont typeface="Arial"/>
              <a:buChar char="•"/>
            </a:pPr>
            <a:r>
              <a:rPr lang="en-US" sz="375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Aumentare</a:t>
            </a:r>
            <a:r>
              <a:rPr lang="en-US" sz="375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la </a:t>
            </a:r>
            <a:r>
              <a:rPr lang="en-US" sz="375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percentuale</a:t>
            </a:r>
            <a:r>
              <a:rPr lang="en-US" sz="375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da </a:t>
            </a:r>
            <a:r>
              <a:rPr lang="en-US" sz="375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mantenere</a:t>
            </a:r>
            <a:r>
              <a:rPr lang="en-US" sz="375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per la PCA</a:t>
            </a:r>
          </a:p>
          <a:p>
            <a:pPr marL="809625" lvl="1" indent="-404812" algn="l">
              <a:lnSpc>
                <a:spcPts val="5250"/>
              </a:lnSpc>
              <a:buFont typeface="Arial"/>
              <a:buChar char="•"/>
            </a:pPr>
            <a:r>
              <a:rPr lang="en-US" sz="375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Cercare</a:t>
            </a:r>
            <a:r>
              <a:rPr lang="en-US" sz="375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75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il</a:t>
            </a:r>
            <a:r>
              <a:rPr lang="en-US" sz="375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75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risultato</a:t>
            </a:r>
            <a:r>
              <a:rPr lang="en-US" sz="375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75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migliore</a:t>
            </a:r>
            <a:r>
              <a:rPr lang="en-US" sz="375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75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fra</a:t>
            </a:r>
            <a:r>
              <a:rPr lang="en-US" sz="375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75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più</a:t>
            </a:r>
            <a:r>
              <a:rPr lang="en-US" sz="375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75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parametri</a:t>
            </a:r>
            <a:r>
              <a:rPr lang="en-US" sz="375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75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dello</a:t>
            </a:r>
            <a:r>
              <a:rPr lang="en-US" sz="375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75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stesso</a:t>
            </a:r>
            <a:r>
              <a:rPr lang="en-US" sz="375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75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modello</a:t>
            </a:r>
            <a:r>
              <a:rPr lang="en-US" sz="375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75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usando</a:t>
            </a:r>
            <a:r>
              <a:rPr lang="en-US" sz="375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75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GridSearch</a:t>
            </a:r>
            <a:r>
              <a:rPr lang="en-US" sz="375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marL="809625" lvl="1" indent="-404812" algn="l">
              <a:lnSpc>
                <a:spcPts val="5250"/>
              </a:lnSpc>
              <a:buFont typeface="Arial"/>
              <a:buChar char="•"/>
            </a:pPr>
            <a:r>
              <a:rPr lang="en-US" sz="375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Usare</a:t>
            </a:r>
            <a:r>
              <a:rPr lang="en-US" sz="375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la </a:t>
            </a:r>
            <a:r>
              <a:rPr lang="en-US" sz="375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divisione</a:t>
            </a:r>
            <a:r>
              <a:rPr lang="en-US" sz="375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del dataset come k-fold.</a:t>
            </a:r>
          </a:p>
          <a:p>
            <a:pPr algn="l">
              <a:lnSpc>
                <a:spcPts val="4830"/>
              </a:lnSpc>
            </a:pPr>
            <a:r>
              <a:rPr lang="en-US" sz="3450" i="1" dirty="0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La </a:t>
            </a:r>
            <a:r>
              <a:rPr lang="en-US" sz="3450" i="1" dirty="0" err="1" smtClean="0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motivazione</a:t>
            </a:r>
            <a:r>
              <a:rPr lang="en-US" sz="3450" i="1" dirty="0" smtClean="0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 di </a:t>
            </a:r>
            <a:r>
              <a:rPr lang="en-US" sz="3450" i="1" dirty="0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non </a:t>
            </a:r>
            <a:r>
              <a:rPr lang="en-US" sz="3450" i="1" dirty="0" err="1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applicare</a:t>
            </a:r>
            <a:r>
              <a:rPr lang="en-US" sz="3450" i="1" dirty="0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 </a:t>
            </a:r>
            <a:r>
              <a:rPr lang="en-US" sz="3450" i="1" dirty="0" err="1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questi</a:t>
            </a:r>
            <a:r>
              <a:rPr lang="en-US" sz="3450" i="1" dirty="0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 </a:t>
            </a:r>
            <a:r>
              <a:rPr lang="en-US" sz="3450" i="1" dirty="0" err="1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metodi</a:t>
            </a:r>
            <a:r>
              <a:rPr lang="en-US" sz="3450" i="1" dirty="0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 è </a:t>
            </a:r>
            <a:r>
              <a:rPr lang="en-US" sz="3450" i="1" dirty="0" err="1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stato</a:t>
            </a:r>
            <a:r>
              <a:rPr lang="en-US" sz="3450" i="1" dirty="0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 </a:t>
            </a:r>
            <a:r>
              <a:rPr lang="en-US" sz="3450" i="1" dirty="0" err="1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puramente</a:t>
            </a:r>
            <a:r>
              <a:rPr lang="en-US" sz="3450" i="1" dirty="0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 </a:t>
            </a:r>
            <a:r>
              <a:rPr lang="en-US" sz="3450" i="1" dirty="0" err="1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scelto</a:t>
            </a:r>
            <a:r>
              <a:rPr lang="en-US" sz="3450" i="1" dirty="0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 per </a:t>
            </a:r>
            <a:r>
              <a:rPr lang="en-US" sz="3450" i="1" dirty="0" err="1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motivi</a:t>
            </a:r>
            <a:r>
              <a:rPr lang="en-US" sz="3450" i="1" dirty="0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 di </a:t>
            </a:r>
            <a:r>
              <a:rPr lang="en-US" sz="3450" i="1" dirty="0" err="1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tempistiche</a:t>
            </a:r>
            <a:r>
              <a:rPr lang="en-US" sz="3450" i="1" dirty="0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 </a:t>
            </a:r>
            <a:r>
              <a:rPr lang="en-US" sz="3450" b="1" i="1" dirty="0" err="1">
                <a:solidFill>
                  <a:srgbClr val="0000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troppo</a:t>
            </a:r>
            <a:r>
              <a:rPr lang="en-US" sz="3450" b="1" i="1" dirty="0">
                <a:solidFill>
                  <a:srgbClr val="0000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</a:t>
            </a:r>
            <a:r>
              <a:rPr lang="en-US" sz="3450" b="1" i="1" dirty="0" err="1">
                <a:solidFill>
                  <a:srgbClr val="0000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grandi</a:t>
            </a:r>
            <a:r>
              <a:rPr lang="en-US" sz="3450" i="1" dirty="0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 per </a:t>
            </a:r>
            <a:r>
              <a:rPr lang="en-US" sz="3450" i="1" dirty="0" err="1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per</a:t>
            </a:r>
            <a:r>
              <a:rPr lang="en-US" sz="3450" i="1" dirty="0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 </a:t>
            </a:r>
            <a:r>
              <a:rPr lang="en-US" sz="3450" i="1" dirty="0" err="1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poter</a:t>
            </a:r>
            <a:r>
              <a:rPr lang="en-US" sz="3450" i="1" dirty="0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 </a:t>
            </a:r>
            <a:r>
              <a:rPr lang="en-US" sz="3450" i="1" dirty="0" err="1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riprodurre</a:t>
            </a:r>
            <a:r>
              <a:rPr lang="en-US" sz="3450" i="1" dirty="0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 in </a:t>
            </a:r>
            <a:r>
              <a:rPr lang="en-US" sz="3450" i="1" dirty="0" err="1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modo</a:t>
            </a:r>
            <a:r>
              <a:rPr lang="en-US" sz="3450" i="1" dirty="0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 </a:t>
            </a:r>
            <a:r>
              <a:rPr lang="en-US" sz="3450" i="1" dirty="0" err="1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indipendente</a:t>
            </a:r>
            <a:r>
              <a:rPr lang="en-US" sz="3450" i="1" dirty="0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 </a:t>
            </a:r>
            <a:r>
              <a:rPr lang="en-US" sz="3450" i="1" dirty="0" err="1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i</a:t>
            </a:r>
            <a:r>
              <a:rPr lang="en-US" sz="3450" i="1" dirty="0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 </a:t>
            </a:r>
            <a:r>
              <a:rPr lang="en-US" sz="3450" i="1" dirty="0" err="1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risultati</a:t>
            </a:r>
            <a:r>
              <a:rPr lang="en-US" sz="3450" i="1" dirty="0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.</a:t>
            </a:r>
          </a:p>
          <a:p>
            <a:pPr algn="l">
              <a:lnSpc>
                <a:spcPts val="7500"/>
              </a:lnSpc>
            </a:pPr>
            <a:endParaRPr lang="en-US" sz="3450" i="1" dirty="0">
              <a:solidFill>
                <a:srgbClr val="000000"/>
              </a:solidFill>
              <a:latin typeface="Open Sans Italics"/>
              <a:ea typeface="Open Sans Italics"/>
              <a:cs typeface="Open Sans Italics"/>
              <a:sym typeface="Open Sans Itali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467</Words>
  <Application>Microsoft Office PowerPoint</Application>
  <PresentationFormat>Personalizzato</PresentationFormat>
  <Paragraphs>52</Paragraphs>
  <Slides>9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9</vt:i4>
      </vt:variant>
    </vt:vector>
  </HeadingPairs>
  <TitlesOfParts>
    <vt:vector size="16" baseType="lpstr">
      <vt:lpstr>Arial</vt:lpstr>
      <vt:lpstr>Open Sans Bold</vt:lpstr>
      <vt:lpstr>Open Sans</vt:lpstr>
      <vt:lpstr>Open Sans Bold Italics</vt:lpstr>
      <vt:lpstr>Calibri</vt:lpstr>
      <vt:lpstr>Open Sans Italics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Homework 2</dc:title>
  <cp:lastModifiedBy>Account Microsoft</cp:lastModifiedBy>
  <cp:revision>2</cp:revision>
  <dcterms:created xsi:type="dcterms:W3CDTF">2006-08-16T00:00:00Z</dcterms:created>
  <dcterms:modified xsi:type="dcterms:W3CDTF">2025-05-03T08:42:24Z</dcterms:modified>
  <dc:identifier>DAGmStn1E3A</dc:identifier>
</cp:coreProperties>
</file>